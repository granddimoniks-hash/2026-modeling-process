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15"/>
    <p:sldId id="258" r:id="rId10"/>
    <p:sldId id="259" r:id="rId11"/>
    <p:sldId id="260" r:id="rId22"/>
    <p:sldId id="261" r:id="rId23"/>
    <p:sldId id="262" r:id="rId12"/>
    <p:sldId id="263" r:id="rId16"/>
    <p:sldId id="264" r:id="rId24"/>
    <p:sldId id="265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1pPr>
    <a:lvl2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2pPr>
    <a:lvl3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3pPr>
    <a:lvl4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4pPr>
    <a:lvl5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5pPr>
    <a:lvl6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6pPr>
    <a:lvl7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7pPr>
    <a:lvl8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8pPr>
    <a:lvl9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12700" cap="flat">
              <a:solidFill>
                <a:srgbClr val="BFBFB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F2F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3200" u="none">
                <a:solidFill>
                  <a:srgbClr val="102D69"/>
                </a:solidFill>
                <a:latin typeface="Helvetica"/>
              </a:defRPr>
            </a:pPr>
            <a:r>
              <a:rPr b="0" i="0" strike="noStrike" sz="3200" u="none">
                <a:solidFill>
                  <a:srgbClr val="102D69"/>
                </a:solidFill>
                <a:latin typeface="Helvetica"/>
              </a:rPr>
              <a:t>Доля объяснённой дисперсии, %</a:t>
            </a:r>
          </a:p>
        </c:rich>
      </c:tx>
      <c:layout>
        <c:manualLayout>
          <c:xMode val="edge"/>
          <c:yMode val="edge"/>
          <c:x val="0.308691"/>
          <c:y val="0"/>
          <c:w val="0.382618"/>
          <c:h val="0.0998653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521308"/>
          <c:y val="0.0998653"/>
          <c:w val="0.942869"/>
          <c:h val="0.72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дисперсии</c:v>
                </c:pt>
              </c:strCache>
            </c:strRef>
          </c:tx>
          <c:spPr>
            <a:solidFill>
              <a:srgbClr val="102D69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Комп. 1</c:v>
                </c:pt>
                <c:pt idx="1">
                  <c:v>Комп. 2</c:v>
                </c:pt>
                <c:pt idx="2">
                  <c:v>Комп. 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</c:v>
                </c:pt>
                <c:pt idx="1">
                  <c:v>14</c:v>
                </c:pt>
                <c:pt idx="2">
                  <c:v>13</c:v>
                </c:pt>
              </c:numCache>
            </c:numRef>
          </c:val>
        </c:ser>
        <c:gapWidth val="262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2400" u="none">
                <a:solidFill>
                  <a:srgbClr val="102D69"/>
                </a:solidFill>
                <a:latin typeface="Helvetica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#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2400" u="none">
                <a:solidFill>
                  <a:srgbClr val="102D69"/>
                </a:solidFill>
                <a:latin typeface="Helvetica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260763"/>
          <c:y val="0.939803"/>
          <c:w val="0.530197"/>
          <c:h val="0.060196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2400" u="none">
              <a:solidFill>
                <a:srgbClr val="595959"/>
              </a:solidFill>
              <a:latin typeface="HSE Sans Regular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Calibri"/>
      </a:defRPr>
    </a:lvl1pPr>
    <a:lvl2pPr indent="228600" defTabSz="1828800" latinLnBrk="0">
      <a:defRPr sz="2400">
        <a:latin typeface="+mj-lt"/>
        <a:ea typeface="+mj-ea"/>
        <a:cs typeface="+mj-cs"/>
        <a:sym typeface="Calibri"/>
      </a:defRPr>
    </a:lvl2pPr>
    <a:lvl3pPr indent="457200" defTabSz="1828800" latinLnBrk="0">
      <a:defRPr sz="2400">
        <a:latin typeface="+mj-lt"/>
        <a:ea typeface="+mj-ea"/>
        <a:cs typeface="+mj-cs"/>
        <a:sym typeface="Calibri"/>
      </a:defRPr>
    </a:lvl3pPr>
    <a:lvl4pPr indent="685800" defTabSz="1828800" latinLnBrk="0">
      <a:defRPr sz="2400">
        <a:latin typeface="+mj-lt"/>
        <a:ea typeface="+mj-ea"/>
        <a:cs typeface="+mj-cs"/>
        <a:sym typeface="Calibri"/>
      </a:defRPr>
    </a:lvl4pPr>
    <a:lvl5pPr indent="914400" defTabSz="1828800" latinLnBrk="0">
      <a:defRPr sz="2400">
        <a:latin typeface="+mj-lt"/>
        <a:ea typeface="+mj-ea"/>
        <a:cs typeface="+mj-cs"/>
        <a:sym typeface="Calibri"/>
      </a:defRPr>
    </a:lvl5pPr>
    <a:lvl6pPr indent="1143000" defTabSz="1828800" latinLnBrk="0">
      <a:defRPr sz="2400">
        <a:latin typeface="+mj-lt"/>
        <a:ea typeface="+mj-ea"/>
        <a:cs typeface="+mj-cs"/>
        <a:sym typeface="Calibri"/>
      </a:defRPr>
    </a:lvl6pPr>
    <a:lvl7pPr indent="1371600" defTabSz="1828800" latinLnBrk="0">
      <a:defRPr sz="2400">
        <a:latin typeface="+mj-lt"/>
        <a:ea typeface="+mj-ea"/>
        <a:cs typeface="+mj-cs"/>
        <a:sym typeface="Calibri"/>
      </a:defRPr>
    </a:lvl7pPr>
    <a:lvl8pPr indent="1600200" defTabSz="1828800" latinLnBrk="0">
      <a:defRPr sz="2400">
        <a:latin typeface="+mj-lt"/>
        <a:ea typeface="+mj-ea"/>
        <a:cs typeface="+mj-cs"/>
        <a:sym typeface="Calibri"/>
      </a:defRPr>
    </a:lvl8pPr>
    <a:lvl9pPr indent="1828800" defTabSz="1828800" latinLnBrk="0">
      <a:defRPr sz="24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Уровень текста 1…"/>
          <p:cNvSpPr txBox="1"/>
          <p:nvPr>
            <p:ph type="body" sz="quarter" idx="1"/>
          </p:nvPr>
        </p:nvSpPr>
        <p:spPr>
          <a:xfrm>
            <a:off x="2207071" y="994629"/>
            <a:ext cx="4510612" cy="7924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6" name="TextBox 30"/>
          <p:cNvSpPr txBox="1"/>
          <p:nvPr>
            <p:ph type="body" sz="quarter" idx="21"/>
          </p:nvPr>
        </p:nvSpPr>
        <p:spPr>
          <a:xfrm>
            <a:off x="6822693" y="994629"/>
            <a:ext cx="4510612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7" name="TextBox 31"/>
          <p:cNvSpPr txBox="1"/>
          <p:nvPr>
            <p:ph type="body" sz="quarter" idx="22"/>
          </p:nvPr>
        </p:nvSpPr>
        <p:spPr>
          <a:xfrm>
            <a:off x="12407675" y="994629"/>
            <a:ext cx="4510613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28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Обложк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Прямоугольник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defTabSz="1828800">
              <a:spcBef>
                <a:spcPts val="0"/>
              </a:spcBef>
              <a:defRPr sz="36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38" name="сбор гум.помощи-05.png" descr="сбор гум.помощи-0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48086" y="1924345"/>
            <a:ext cx="1532263" cy="1772999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traight Connector 48"/>
          <p:cNvSpPr/>
          <p:nvPr/>
        </p:nvSpPr>
        <p:spPr>
          <a:xfrm>
            <a:off x="12180423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Straight Connector 50"/>
          <p:cNvSpPr/>
          <p:nvPr/>
        </p:nvSpPr>
        <p:spPr>
          <a:xfrm>
            <a:off x="17285160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" name="Straight Connector 51"/>
          <p:cNvSpPr/>
          <p:nvPr/>
        </p:nvSpPr>
        <p:spPr>
          <a:xfrm>
            <a:off x="22358092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Уровень текста 1…"/>
          <p:cNvSpPr txBox="1"/>
          <p:nvPr>
            <p:ph type="body" sz="quarter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" name="Название подразделения в две или три строки (12pt)"/>
          <p:cNvSpPr txBox="1"/>
          <p:nvPr>
            <p:ph type="body" sz="quarter" idx="21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" name="Москва 2022 (12pt)"/>
          <p:cNvSpPr txBox="1"/>
          <p:nvPr>
            <p:ph type="body" sz="quarter" idx="22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" name="Название презентации может быть набрано в две  или три строки (43 pt)"/>
          <p:cNvSpPr txBox="1"/>
          <p:nvPr>
            <p:ph type="body" sz="half" idx="23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17200"/>
              </a:lnSpc>
              <a:spcBef>
                <a:spcPts val="0"/>
              </a:spcBef>
              <a:buSzTx/>
              <a:buFontTx/>
              <a:buNone/>
              <a:defRPr sz="86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" name="Если нужно больше места,  то используйте подзаголовок (16 pt)"/>
          <p:cNvSpPr txBox="1"/>
          <p:nvPr>
            <p:ph type="body" sz="quarter" idx="24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52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47" name="Изображение" descr="Изображение"/>
          <p:cNvPicPr>
            <a:picLocks noChangeAspect="1"/>
          </p:cNvPicPr>
          <p:nvPr/>
        </p:nvPicPr>
        <p:blipFill>
          <a:blip r:embed="rId5">
            <a:alphaModFix amt="27475"/>
            <a:extLst/>
          </a:blip>
          <a:stretch>
            <a:fillRect/>
          </a:stretch>
        </p:blipFill>
        <p:spPr>
          <a:xfrm>
            <a:off x="13288396" y="1662907"/>
            <a:ext cx="16546249" cy="17791536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" name="TextBox 44"/>
          <p:cNvSpPr txBox="1"/>
          <p:nvPr>
            <p:ph type="body" sz="quarter" idx="21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" name="Уровень текста 1…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TextBox 23"/>
          <p:cNvSpPr txBox="1"/>
          <p:nvPr>
            <p:ph type="body" sz="quarter" idx="21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" name="TextBox 63"/>
          <p:cNvSpPr txBox="1"/>
          <p:nvPr>
            <p:ph type="body" sz="quarter" idx="22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" name="TextBox 22"/>
          <p:cNvSpPr txBox="1"/>
          <p:nvPr>
            <p:ph type="body" sz="quarter" idx="23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</p:spPr>
        <p:txBody>
          <a:bodyPr lIns="101600" tIns="101600" rIns="101600" bIns="101600"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74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75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7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7" name="TextBox 14"/>
          <p:cNvSpPr txBox="1"/>
          <p:nvPr>
            <p:ph type="body" idx="21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</p:spPr>
        <p:txBody>
          <a:bodyPr numCol="3" spcCol="126384"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92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93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94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Уровень текста 1…"/>
          <p:cNvSpPr txBox="1"/>
          <p:nvPr>
            <p:ph type="body" sz="quarter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5" name="TextBox 18"/>
          <p:cNvSpPr txBox="1"/>
          <p:nvPr>
            <p:ph type="body" sz="quarter" idx="21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Box 27"/>
          <p:cNvSpPr txBox="1"/>
          <p:nvPr/>
        </p:nvSpPr>
        <p:spPr>
          <a:xfrm>
            <a:off x="2207072" y="994629"/>
            <a:ext cx="4109405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11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112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13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4" name="TextBox 18"/>
          <p:cNvSpPr txBox="1"/>
          <p:nvPr>
            <p:ph type="body" sz="quarter" idx="21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00">
                <a:latin typeface="HSE Sans Regular"/>
                <a:ea typeface="HSE Sans Regular"/>
                <a:cs typeface="HSE Sans Regular"/>
                <a:sym typeface="HSE Sans Regular"/>
              </a:defRPr>
            </a:pPr>
          </a:p>
        </p:txBody>
      </p:sp>
      <p:sp>
        <p:nvSpPr>
          <p:cNvPr id="125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30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131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32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3" name="TextBox 16"/>
          <p:cNvSpPr txBox="1"/>
          <p:nvPr>
            <p:ph type="body" sz="quarter" idx="21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4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5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49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150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51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Название презентации может быть набрано в две  или три строки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 defTabSz="914400">
              <a:lnSpc>
                <a:spcPct val="80000"/>
              </a:lnSpc>
              <a:spcBef>
                <a:spcPts val="0"/>
              </a:spcBef>
              <a:defRPr sz="8600">
                <a:solidFill>
                  <a:srgbClr val="172C65"/>
                </a:solidFill>
              </a:defRPr>
            </a:pPr>
            <a:r>
              <a:t>Название презентации</a:t>
            </a:r>
            <a:br/>
            <a:r>
              <a:t xml:space="preserve">может быть набрано в две </a:t>
            </a:r>
            <a:br/>
            <a:r>
              <a:t>или три строки</a:t>
            </a:r>
          </a:p>
        </p:txBody>
      </p:sp>
      <p:sp>
        <p:nvSpPr>
          <p:cNvPr id="160" name="Если нужно больше места, то используйте подзаголовок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defTabSz="914400">
              <a:lnSpc>
                <a:spcPct val="80000"/>
              </a:lnSpc>
              <a:spcBef>
                <a:spcPts val="0"/>
              </a:spcBef>
              <a:defRPr sz="2800"/>
            </a:lvl1pPr>
          </a:lstStyle>
          <a:p>
            <a:pPr/>
            <a:r>
              <a:t>Если нужно больше места, то используйте подзаголовок</a:t>
            </a:r>
          </a:p>
        </p:txBody>
      </p:sp>
      <p:pic>
        <p:nvPicPr>
          <p:cNvPr id="161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Уровень текста 1…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4" name="TextBox 22"/>
          <p:cNvSpPr txBox="1"/>
          <p:nvPr>
            <p:ph type="body" sz="quarter" idx="21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92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" name="TextBox 26"/>
          <p:cNvSpPr txBox="1"/>
          <p:nvPr>
            <p:ph type="body" sz="quarter" idx="22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92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" name="TextBox 63"/>
          <p:cNvSpPr txBox="1"/>
          <p:nvPr>
            <p:ph type="body" sz="quarter" idx="2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" name="TextBox 18"/>
          <p:cNvSpPr txBox="1"/>
          <p:nvPr>
            <p:ph type="body" sz="quarter" idx="24"/>
          </p:nvPr>
        </p:nvSpPr>
        <p:spPr>
          <a:xfrm>
            <a:off x="1071391" y="8351776"/>
            <a:ext cx="5434543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" name="TextBox 20"/>
          <p:cNvSpPr txBox="1"/>
          <p:nvPr>
            <p:ph type="body" sz="quarter" idx="25"/>
          </p:nvPr>
        </p:nvSpPr>
        <p:spPr>
          <a:xfrm>
            <a:off x="8135580" y="8351776"/>
            <a:ext cx="5434542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" name="TextBox 23"/>
          <p:cNvSpPr txBox="1"/>
          <p:nvPr>
            <p:ph type="body" sz="quarter" idx="26"/>
          </p:nvPr>
        </p:nvSpPr>
        <p:spPr>
          <a:xfrm>
            <a:off x="15110121" y="8351776"/>
            <a:ext cx="5434542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0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74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175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7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6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7" name="TextBox 29"/>
          <p:cNvSpPr txBox="1"/>
          <p:nvPr>
            <p:ph type="body" sz="quarter" idx="21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8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92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193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94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5" name="TextBox 14"/>
          <p:cNvSpPr txBox="1"/>
          <p:nvPr>
            <p:ph type="body" sz="quarter" idx="21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20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211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212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sp>
        <p:nvSpPr>
          <p:cNvPr id="2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8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Диагностика СД2 на основе метода SVD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2025</a:t>
            </a:r>
          </a:p>
        </p:txBody>
      </p:sp>
      <p:pic>
        <p:nvPicPr>
          <p:cNvPr id="10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Уровень текста 1…"/>
          <p:cNvSpPr txBox="1"/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xfrm>
            <a:off x="22203055" y="12835871"/>
            <a:ext cx="504546" cy="483908"/>
          </a:xfrm>
          <a:prstGeom prst="rect">
            <a:avLst/>
          </a:prstGeom>
          <a:ln w="12700">
            <a:miter lim="400000"/>
          </a:ln>
        </p:spPr>
        <p:txBody>
          <a:bodyPr wrap="none" lIns="91438" tIns="91438" rIns="91438" bIns="91438" anchor="ctr">
            <a:spAutoFit/>
          </a:bodyPr>
          <a:lstStyle>
            <a:lvl1pPr algn="r" defTabSz="1828800">
              <a:spcBef>
                <a:spcPts val="0"/>
              </a:spcBef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xmlns:p14="http://schemas.microsoft.com/office/powerpoint/2010/main" spd="med" advClick="1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554478" marR="0" indent="-640078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Название факультета в две строки (16 pt)"/>
          <p:cNvSpPr txBox="1"/>
          <p:nvPr>
            <p:ph type="body" sz="quarter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</p:spPr>
        <p:txBody>
          <a:bodyPr/>
          <a:lstStyle/>
          <a:p>
            <a:pPr marL="0" indent="0" defTabSz="868680">
              <a:lnSpc>
                <a:spcPts val="4900"/>
              </a:lnSpc>
              <a:spcBef>
                <a:spcPts val="0"/>
              </a:spcBef>
              <a:buSzTx/>
              <a:buNone/>
              <a:defRPr sz="304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223" name="Название подразделения в две или три строки (12p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95527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2088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Научно-исследовательская работа</a:t>
            </a:r>
            <a:br/>
            <a:r>
              <a:t>09.03.02 Информационные системы и технологии</a:t>
            </a:r>
          </a:p>
        </p:txBody>
      </p:sp>
      <p:sp>
        <p:nvSpPr>
          <p:cNvPr id="224" name="Москва 2022 (12pt)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95527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2088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Москва</a:t>
            </a:r>
            <a:br/>
            <a:r>
              <a:t>2025</a:t>
            </a:r>
          </a:p>
        </p:txBody>
      </p:sp>
      <p:sp>
        <p:nvSpPr>
          <p:cNvPr id="225" name="Название презентации может быть набрано в две или три строки (43 pt)"/>
          <p:cNvSpPr txBox="1"/>
          <p:nvPr>
            <p:ph type="body" idx="23"/>
          </p:nvPr>
        </p:nvSpPr>
        <p:spPr>
          <a:xfrm>
            <a:off x="2029011" y="5091534"/>
            <a:ext cx="12557305" cy="4435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914400">
              <a:lnSpc>
                <a:spcPts val="10000"/>
              </a:lnSpc>
              <a:spcBef>
                <a:spcPts val="0"/>
              </a:spcBef>
              <a:buSzTx/>
              <a:buFontTx/>
              <a:buNone/>
              <a:defRPr sz="77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Диагностика диабета 2 типа</a:t>
            </a:r>
            <a:br/>
            <a:r>
              <a:t>на основе метода SVD</a:t>
            </a:r>
          </a:p>
        </p:txBody>
      </p:sp>
      <p:sp>
        <p:nvSpPr>
          <p:cNvPr id="226" name="Если нужно больше места,  то используйте подзаголовок (16 pt)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914400">
              <a:lnSpc>
                <a:spcPts val="57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Концептуальный проект ИТ-решения для скрининга СД2</a:t>
            </a:r>
            <a:br/>
            <a:r>
              <a:t>Звонарёв Дмитрий Алексеевич, гр. 636-02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Научный аппарат</a:t>
            </a:r>
            <a:br/>
            <a:r>
              <a:t>исследования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Проблема. </a:t>
            </a:r>
            <a:r>
              <a:t>Традиционные методы скрининга СД2 (шкала FINDRISC) имеют низкую чувствительность (65–75%), требуют направления в стационар и недоступны массово — пациенты выявляются поздно.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Объект. </a:t>
            </a:r>
            <a:r>
              <a:t>Процесс скрининга и ранней диагностики сахарного диабета 2 типа в первичном звене здравоохранения РФ.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Предмет. </a:t>
            </a:r>
            <a:r>
              <a:t>Алгоритмы машинного обучения и снижения размерности (SVD) для анализа табличных медико-биологических данных.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Гипотеза. </a:t>
            </a:r>
            <a:r>
              <a:t>Снижение размерности методом SVD с классификацией ансамблем CatBoost + Random Forest обеспечит F1-score ≥ 0,90, превзойдя FINDRISC на 10–15%.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Цель. </a:t>
            </a:r>
            <a:r>
              <a:t>Разработать концептуальный проект системы поддержки врачебных решений (CDSS) для ранней диагностики СД2, адаптированной к российскому здравоохранению.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Признаки. </a:t>
            </a:r>
            <a:r>
              <a:t>Возраст, ИМТ, глюкоза натощак, HbA1c, холестерин, артериальное давление, ССЗ в анамнезе, семейный анамнез (8–12 параметров).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5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Веб-сервис для скрининга СД2, интегрируемый с лабораторными системами (ЛИС) и совместимый со стандартами HL7 / FHIR и системой ЕГИСЗ.</a:t>
            </a:r>
          </a:p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Компоненты: фронтенд (Vue.js), API на FastAPI, предобработка (Pandas, Scikit-learn), снижение размерности (SVD), классификатор (CatBoost + Random Forest), объяснимость (SHAP), БД PostgreSQL.</a:t>
            </a:r>
          </a:p>
        </p:txBody>
      </p:sp>
      <p:sp>
        <p:nvSpPr>
          <p:cNvPr id="238" name="TextBox 2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Импортозамещение: Python, CatBoost (Яндекс), FastAPI, PostgreSQL, Яндекс.Cloud, GitLab.ru.</a:t>
            </a:r>
          </a:p>
        </p:txBody>
      </p:sp>
      <p:sp>
        <p:nvSpPr>
          <p:cNvPr id="239" name="TextBox 6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Архитектура</a:t>
            </a:r>
            <a:br/>
            <a:r>
              <a:t>ИТ-решения</a:t>
            </a:r>
          </a:p>
        </p:txBody>
      </p:sp>
      <p:sp>
        <p:nvSpPr>
          <p:cNvPr id="240" name="TextBox 22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 xml:space="preserve">Конвейер: данные пациента → предобработка → SVD → ансамбль </a:t>
            </a:r>
            <a:br/>
            <a:r>
              <a:t>CatBoost + RF → объяснимое заключение для врача.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7"/>
          <p:cNvSpPr txBox="1"/>
          <p:nvPr>
            <p:ph type="body" sz="quarter" idx="1"/>
          </p:nvPr>
        </p:nvSpPr>
        <p:spPr>
          <a:xfrm>
            <a:off x="1037232" y="2963421"/>
            <a:ext cx="7120557" cy="2113283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Снижение размерности</a:t>
            </a:r>
            <a:br/>
            <a:r>
              <a:t>методом SVD</a:t>
            </a:r>
          </a:p>
        </p:txBody>
      </p:sp>
      <p:sp>
        <p:nvSpPr>
          <p:cNvPr id="243" name="TextBox 18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SVD выделяет главные оси изменчивости среди коррелированных лабораторных признаков. Первая компонента описывает ≈ 52% всей дисперсии и отражает основной «градиент риска» (вклад глюкозы, HbA1c и ИМТ). Три компоненты сохраняют около 79% информации, что позволяет снизить размерность с 8 до 3 признаков почти без потери качества классификации.</a:t>
            </a:r>
          </a:p>
        </p:txBody>
      </p:sp>
      <p:sp>
        <p:nvSpPr>
          <p:cNvPr id="244" name="TextBox 2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Значения объяснённой дисперсии получены на масштабированных данных (StandardScaler) через numpy.linalg.svd.</a:t>
            </a:r>
          </a:p>
        </p:txBody>
      </p:sp>
      <p:graphicFrame>
        <p:nvGraphicFramePr>
          <p:cNvPr id="245" name="Chart 1"/>
          <p:cNvGraphicFramePr/>
          <p:nvPr/>
        </p:nvGraphicFramePr>
        <p:xfrm>
          <a:off x="10574756" y="3420096"/>
          <a:ext cx="12513017" cy="852047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6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5</a:t>
            </a:r>
            <a:r>
              <a:rPr sz="3168"/>
              <a:t xml:space="preserve"> млн</a:t>
            </a:r>
          </a:p>
        </p:txBody>
      </p:sp>
      <p:sp>
        <p:nvSpPr>
          <p:cNvPr id="258" name="TextBox 2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65</a:t>
            </a:r>
            <a:r>
              <a:rPr sz="3168"/>
              <a:t xml:space="preserve"> %</a:t>
            </a:r>
          </a:p>
        </p:txBody>
      </p:sp>
      <p:sp>
        <p:nvSpPr>
          <p:cNvPr id="259" name="TextBox 26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15</a:t>
            </a:r>
            <a:r>
              <a:rPr sz="3168"/>
              <a:t xml:space="preserve"> %</a:t>
            </a:r>
          </a:p>
        </p:txBody>
      </p:sp>
      <p:sp>
        <p:nvSpPr>
          <p:cNvPr id="260" name="TextBox 63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Актуальность проблемы</a:t>
            </a:r>
            <a:br/>
            <a:r>
              <a:t>ранней диагностики СД2</a:t>
            </a:r>
          </a:p>
        </p:txBody>
      </p:sp>
      <p:sp>
        <p:nvSpPr>
          <p:cNvPr id="261" name="TextBox 18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Более 5 млн россиян страдают сахарным диабетом 2 типа; ежегодный прирост заболеваемости составляет 10–12%.</a:t>
            </a:r>
          </a:p>
        </p:txBody>
      </p:sp>
      <p:sp>
        <p:nvSpPr>
          <p:cNvPr id="262" name="TextBox 20"/>
          <p:cNvSpPr txBox="1"/>
          <p:nvPr>
            <p:ph type="body" idx="2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60–65% пациентов выявляются с опозданием на 3–5 лет — уже на стадии тяжёлых осложнений.</a:t>
            </a:r>
          </a:p>
        </p:txBody>
      </p:sp>
      <p:sp>
        <p:nvSpPr>
          <p:cNvPr id="263" name="TextBox 23"/>
          <p:cNvSpPr txBox="1"/>
          <p:nvPr>
            <p:ph type="body" idx="26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Цель проекта — повысить точность скрининга на 10–15% и сделать раннюю диагностику доступной в первичном звене.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28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Сравнение моделей</a:t>
            </a:r>
          </a:p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по метрикам качества</a:t>
            </a:r>
          </a:p>
        </p:txBody>
      </p:sp>
      <p:sp>
        <p:nvSpPr>
          <p:cNvPr id="266" name="TextBox 29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11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Главный критерий успеха — F1-score. Ансамбль CatBoost + Random Forest превосходит клиническую шкалу FINDRISC более чем на 20% по F1 и достигает целевых значений проекта (F1 ≥ 0,90; ROC-AUC ≥ 0,95).</a:t>
            </a:r>
          </a:p>
        </p:txBody>
      </p:sp>
      <p:graphicFrame>
        <p:nvGraphicFramePr>
          <p:cNvPr id="267" name="Table 2"/>
          <p:cNvGraphicFramePr/>
          <p:nvPr/>
        </p:nvGraphicFramePr>
        <p:xfrm>
          <a:off x="1034398" y="4549714"/>
          <a:ext cx="22240632" cy="59771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6354467"/>
                <a:gridCol w="3177233"/>
                <a:gridCol w="3177233"/>
                <a:gridCol w="3177233"/>
                <a:gridCol w="3177233"/>
                <a:gridCol w="3177233"/>
              </a:tblGrid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Модель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F1-score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ROC-AUC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Специфичность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FINDRISC (baseline)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0,75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Logistic Regression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0,83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CatBoost (SVD k=3)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0,89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Ансамбль CatBoost + RF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0,90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Метод SVD:</a:t>
            </a:r>
            <a:br/>
            <a:r>
              <a:t>теория и реализация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1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/>
              <a:t xml:space="preserve">Любую матрицу «объекты × признаки» X можно разложить: X = U · Σ · Vᵀ. Старшие сингулярные числа задают главные оси изменчивости данных.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numpy.linalg import svd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sklearn.preprocessing import StandardScaler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/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X_s = StandardScaler().fit_transform(X_train)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U, S, Vt = svd(X_s, full_matrices=False)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explained = S**2 / (S**2).sum()   # доля дисперсии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 b="1"/>
              <a:t xml:space="preserve">Усечение до k = 3 компонент сохраняет ≈ 79% дисперсии и снижает размерность с 8 до 3 признаков: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sklearn.decomposition import TruncatedSVD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svd3 = TruncatedSVD(n_components=3, random_state=42)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Z_train = svd3.fit_transform(X_s)   # сжатые данные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Классификация</a:t>
            </a:r>
            <a:br/>
            <a:r>
              <a:t>и ансамбль моделей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1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/>
              <a:t xml:space="preserve">На SVD-компонентах обучаются модели проекта; ансамбль усредняет вероятности CatBoost и Random Forest.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catboost import CatBoostClassifier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sklearn.ensemble import RandomForestClassifier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/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cb = CatBoostClassifier(iterations=400, depth=6,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 learning_rate=0.1, verbose=False)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rf = RandomForestClassifier(n_estimators=400,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 max_depth=15, min_samples_leaf=5)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cb.fit(Z_train, y_train); rf.fit(Z_train, y_train)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 b="1"/>
              <a:t xml:space="preserve">Ансамбль — усреднение вероятностей P = 0.5·P_CatBoost + 0.5·P_RF 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 = (cb.predict_proba(Z_test)[:, 1]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+ rf.predict_proba(Z_test)[:, 1]) / 2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pred = (p &gt;= 0.5).astype(int)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print(f1_score(y_test, pred), roc_auc_score(y_test, p))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6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0,93</a:t>
            </a:r>
            <a:r>
              <a:rPr sz="3168"/>
              <a:t xml:space="preserve"> </a:t>
            </a:r>
          </a:p>
        </p:txBody>
      </p:sp>
      <p:sp>
        <p:nvSpPr>
          <p:cNvPr id="258" name="TextBox 2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0,97</a:t>
            </a:r>
            <a:r>
              <a:rPr sz="3168"/>
              <a:t xml:space="preserve"> </a:t>
            </a:r>
          </a:p>
        </p:txBody>
      </p:sp>
      <p:sp>
        <p:nvSpPr>
          <p:cNvPr id="259" name="TextBox 26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0,95</a:t>
            </a:r>
            <a:r>
              <a:rPr sz="3168"/>
              <a:t xml:space="preserve"> </a:t>
            </a:r>
          </a:p>
        </p:txBody>
      </p:sp>
      <p:sp>
        <p:nvSpPr>
          <p:cNvPr id="260" name="TextBox 63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Результаты</a:t>
            </a:r>
            <a:br/>
            <a:r>
              <a:t>и достигнутые метрики</a:t>
            </a:r>
          </a:p>
        </p:txBody>
      </p:sp>
      <p:sp>
        <p:nvSpPr>
          <p:cNvPr id="261" name="TextBox 18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F1-score ансамбля CatBoost + Random Forest — главный критерий успеха проекта (целевое значение ≥ 0,90).</a:t>
            </a:r>
          </a:p>
        </p:txBody>
      </p:sp>
      <p:sp>
        <p:nvSpPr>
          <p:cNvPr id="262" name="TextBox 20"/>
          <p:cNvSpPr txBox="1"/>
          <p:nvPr>
            <p:ph type="body" idx="2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ROC-AUC — отличная диагностическая способность по классификации Свеца (целевое значение ≥ 0,95).</a:t>
            </a:r>
          </a:p>
        </p:txBody>
      </p:sp>
      <p:sp>
        <p:nvSpPr>
          <p:cNvPr id="263" name="TextBox 23"/>
          <p:cNvSpPr txBox="1"/>
          <p:nvPr>
            <p:ph type="body" idx="26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Recall (чувствительность) — доля выявленных больных; минимизирует пропуски диагнозов (целевое ≥ 0,92).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5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SVD выделил главные оси изменчивости: три компоненты сохраняют ≈ 79% дисперсии, а ансамбль на сжатых признаках достигает F1 и ROC-AUC, близких к результату на полном наборе.</a:t>
            </a:r>
          </a:p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Перспективы: проверка на реальных деперсонализированных данных клиник РФ, интеграция SVD-преобразования в FastAPI-сервис, добавление SHAP-объяснений и внедрение в ЕГИСЗ.</a:t>
            </a:r>
          </a:p>
        </p:txBody>
      </p:sp>
      <p:sp>
        <p:nvSpPr>
          <p:cNvPr id="238" name="TextBox 2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Гипотеза проекта подтверждена: ансамбль превосходит FINDRISC по F1 при соблюдении требований ФЗ-152.</a:t>
            </a:r>
          </a:p>
        </p:txBody>
      </p:sp>
      <p:sp>
        <p:nvSpPr>
          <p:cNvPr id="239" name="TextBox 6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Выводы</a:t>
            </a:r>
            <a:br/>
            <a:r>
              <a:t>и перспективы</a:t>
            </a:r>
          </a:p>
        </p:txBody>
      </p:sp>
      <p:sp>
        <p:nvSpPr>
          <p:cNvPr id="240" name="TextBox 22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 xml:space="preserve">Снижение размерности методом SVD сохраняет точность </a:t>
            </a:r>
            <a:br/>
            <a:r>
              <a:t>диагностики при меньшем числе признаков.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